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Представиться, назвать тему. Проект задуман как демо для бренда Montblanc: у бренда нет собственного мобильного приложения, я выступаю в роли заказчика и предлагаю готовое решение.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 не только техническая, но и продуктовая: проверить интерес бренда. Поэтому приложение сделано так, чтобы его можно было передать или развивать дальше — отсюда Clean Architecture и заменяемый бэкенд.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можно добавить собственные референсы и скриншоты. Стиль приложения — по мотивам Montblanc: брендовый логотип и шрифты Babylonica / Dancing 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Так выглядит официальный сайт Montblanc на десктопе: главная с коллекцией, раздел каталога с сеткой товаров и карточка товара с выбором размера и кнопкой «Add To Cart». Именно эти сценарии — каталог, карточка, размер, корзина, избранное — перенесены в мобильное приложение.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Мобильная версия сайта Montblanc, снятая в режиме смартфона: адаптивная веб-страница с поиском, меню и корзиной в шапке. Приложение для покупок бренд не предлагает, поэтому мы переносим те же сценарии в нативный формат.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Путь покупки на сайте Montblanc: выбор размера, добавление в корзину, окно подтверждения, корзина и первый шаг оформления (почта, доставка, оплата). Заказ не оформлялся, данные не вводились. Этот сценарий — образец для корзины и демо-покупки в нашем приложении.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Тот же путь на мобильной версии сайта: размер, добавление в корзину, корзина и первый шаг оформления. Это ориентир для UX нашего приложения.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аргумент для бренда: не идея на бумаге, а работающее приложение. Формат сделки открыт: от передачи кода до совместной доработки.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удобно показать живую демонстрацию в симуляторе. Покупка — демо-оформление: платёжная интеграция в объём диплома не входит.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Domain — бизнес-логика без знания о Firebase и UI. Data преобразует данные и реализует репозитории. Infrastructure — конкретные технологии. Проверено по коду: ни одного импорта Firebase в Domain, Data, Presentation и 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Сквозной пример одного сценария через все слои. ViewModel знает только UseCase, UseCase — только протокол репозитория; Firestore виден лишь в Infrastructure.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Контейнер — composition root. Для боевого режима он собирается из Firebase-реализаций, для превью — из моков. ViewModel создаются фабричными методами контейнера.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сделка с брендом пойдёт дальше передачи кода, Firebase заменят на их сервер. Достаточно написать новую реализацию DataSource под другой JSON; Domain, ViewModel и экраны остаются нетронутыми.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Весь Firebase-код сосредоточен в Infrastructure. Ошибки SDK преобразуются в доменные ошибки (ErrorMapper), поэтому ViewModel не знает про Firebase.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Правила проверяются на сервере: даже изменённый клиент не прочитает каталог без подтверждённого email и не запишет чужую корзину или количество выше лимита.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Так выглядит документ товара в Cloud Firestore: ID документа совпадает с id товара, поля имеют типы string, number, array. Править можно прямо в консоли Firebase: изменить значение поля, добавить поле или новый документ. Консоль обходит правила безопасности, поэтому это работает как админка. Важно: коллекции categories и products скрипт seed приводит в соответствие с catalog.json, поэтому постоянные правки каталога нужно делать в этом файле. Настройки магазина (settings/store, например maximumCartItemQuantity) можно менять в консоли без обновления приложения.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Цепочка слева направо: репозиторий (Data) обращается к контракту хранилища (протокол в Data), а реализация на UserDefaults (Infrastructure) этот контракт выполняет. favorites.&lt;uid&gt; — ключ в UserDefaults, в котором лежит массив id избранных товаров этого пользователя. notifications.seenIds — ключ со списком прочитанных уведомлений.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Итоги: что получилось и какую цену заплатили за архитектуру. Эта цена оправдана, если проект пойдёт к реальному серверу бренда.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будет после сделки. Сервер: новая реализация DataSource, остальные слои не меняются. Оплата и заказы: настоящий checkout вместо демо. Аналитика: события просмотров, лайков и добавления в корзину в Firebase Analytics для бизнес-аналитики бренда.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Поблагодарить комиссию и перейти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ClothesShop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51460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C8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Концепт мобильного приложения для бренда Montblanc: каталог, избранное, корзина и покупка под одним аккаунтом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840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Дипломная работа  ·  OTUS iOS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Автор: Alex Rimain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0" y="2011680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26221C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29400" y="2011680"/>
            <a:ext cx="19202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Swift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0" y="2514600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26221C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9400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SwiftUI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0" y="3017520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26221C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29400" y="3017520"/>
            <a:ext cx="19202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Architecture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0" y="3520440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26221C"/>
          </a:solidFill>
          <a:ln w="12700">
            <a:solidFill>
              <a:srgbClr val="B08D5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29400" y="3520440"/>
            <a:ext cx="19202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проекта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Создать приложение под бренд Montblanc, показать демо бренду и проверить, возможна ли сделка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0EC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148840"/>
            <a:ext cx="411480" cy="411480"/>
          </a:xfrm>
          <a:prstGeom prst="ellipse">
            <a:avLst/>
          </a:prstGeom>
          <a:solidFill>
            <a:srgbClr val="15130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148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103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Создать продукт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974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Рабочее демо: каталог, избранное, корзина и покупка под аккаунтом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96596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0EC"/>
          </a:solidFill>
          <a:ln/>
        </p:spPr>
      </p:sp>
      <p:sp>
        <p:nvSpPr>
          <p:cNvPr id="11" name="Shape 9"/>
          <p:cNvSpPr/>
          <p:nvPr/>
        </p:nvSpPr>
        <p:spPr>
          <a:xfrm>
            <a:off x="4846320" y="2148840"/>
            <a:ext cx="411480" cy="411480"/>
          </a:xfrm>
          <a:prstGeom prst="ellipse">
            <a:avLst/>
          </a:prstGeom>
          <a:solidFill>
            <a:srgbClr val="15130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46320" y="2148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2103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Показать бренду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6974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Продемонстрировать приложение в фирменном стиле Montblanc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33756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0EC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3520440"/>
            <a:ext cx="411480" cy="411480"/>
          </a:xfrm>
          <a:prstGeom prst="ellipse">
            <a:avLst/>
          </a:prstGeom>
          <a:solidFill>
            <a:srgbClr val="15130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474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Увидеть реакцию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069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Понять, как бренд оценит проект и заинтересует ли его решение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663440" y="3337560"/>
            <a:ext cx="4023360" cy="1234440"/>
          </a:xfrm>
          <a:prstGeom prst="roundRect">
            <a:avLst>
              <a:gd name="adj" fmla="val 5926"/>
            </a:avLst>
          </a:prstGeom>
          <a:solidFill>
            <a:srgbClr val="F2F0EC"/>
          </a:solidFill>
          <a:ln/>
        </p:spPr>
      </p:sp>
      <p:sp>
        <p:nvSpPr>
          <p:cNvPr id="21" name="Shape 19"/>
          <p:cNvSpPr/>
          <p:nvPr/>
        </p:nvSpPr>
        <p:spPr>
          <a:xfrm>
            <a:off x="4846320" y="3520440"/>
            <a:ext cx="411480" cy="411480"/>
          </a:xfrm>
          <a:prstGeom prst="ellipse">
            <a:avLst/>
          </a:prstGeom>
          <a:solidFill>
            <a:srgbClr val="15130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4632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394960" y="34747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Выйти на сделку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846320" y="4069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передачи кода до совместного развития продукта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Вдохновление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15130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3716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31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Премиум-бренды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8036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C8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Montblanc: сдержанная палитра «чёрный, белый, золото», засечные шрифты, много воздуха вокруг товара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2F0EC"/>
          </a:solidFill>
          <a:ln/>
        </p:spPr>
      </p:sp>
      <p:pic>
        <p:nvPicPr>
          <p:cNvPr id="9" name="Image 0" descr="Логотип Oz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3480" y="1600200"/>
            <a:ext cx="1280160" cy="279806"/>
          </a:xfrm>
          <a:prstGeom prst="rect">
            <a:avLst/>
          </a:prstGeom>
        </p:spPr>
      </p:pic>
      <p:pic>
        <p:nvPicPr>
          <p:cNvPr id="10" name="Image 1" descr="Логотип Wildberri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618488"/>
            <a:ext cx="1828800" cy="27614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983480" y="2331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Маркетплейсы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983480" y="288036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Сетка карточек, чипы категорий, быстрый поиск, избранное и корзина с бейджем — привычные сценарии покупателя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Сайт Montblanc: десктопная версия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CB"/>
            </a:solidFill>
            <a:prstDash val="solid"/>
          </a:ln>
        </p:spPr>
      </p:sp>
      <p:pic>
        <p:nvPicPr>
          <p:cNvPr id="5" name="Image 0" descr="Скриншот montblanc.com: Главна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43000"/>
            <a:ext cx="2560320" cy="1600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834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Главная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291840" y="109728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CB"/>
            </a:solidFill>
            <a:prstDash val="solid"/>
          </a:ln>
        </p:spPr>
      </p:sp>
      <p:pic>
        <p:nvPicPr>
          <p:cNvPr id="8" name="Image 1" descr="Скриншот montblanc.com: Каталог раздел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143000"/>
            <a:ext cx="2560320" cy="1600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291840" y="2834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Каталог раздела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126480" y="1097280"/>
            <a:ext cx="26517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CB"/>
            </a:solidFill>
            <a:prstDash val="solid"/>
          </a:ln>
        </p:spPr>
      </p:sp>
      <p:pic>
        <p:nvPicPr>
          <p:cNvPr id="11" name="Image 2" descr="Скриншот montblanc.com: Карточка товар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43000"/>
            <a:ext cx="2560320" cy="1600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126480" y="2834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 товара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24612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2F0EC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594360" y="33192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Каталог по категориям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Меню разделов, сетка товаров, фильтр и сортировка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3291840" y="324612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2F0EC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3429000" y="33192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 товара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 размера, кнопка Add To Cart, избранное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26480" y="324612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2F0EC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6263640" y="331927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в шапке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Поиск, вход, избранное и корзина всегда под рукой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44622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montblanc.com (en-us), скриншоты автора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Сайт Montblanc на телефоне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627632" cy="3346704"/>
          </a:xfrm>
          <a:prstGeom prst="roundRect">
            <a:avLst>
              <a:gd name="adj" fmla="val 7865"/>
            </a:avLst>
          </a:prstGeom>
          <a:solidFill>
            <a:srgbClr val="15130F"/>
          </a:solidFill>
          <a:ln/>
        </p:spPr>
      </p:sp>
      <p:pic>
        <p:nvPicPr>
          <p:cNvPr id="5" name="Image 0" descr="Мобильная версия montblanc.com: Главна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124712"/>
            <a:ext cx="1481328" cy="3200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434840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Главная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240280" y="1051560"/>
            <a:ext cx="1627632" cy="3346704"/>
          </a:xfrm>
          <a:prstGeom prst="roundRect">
            <a:avLst>
              <a:gd name="adj" fmla="val 7865"/>
            </a:avLst>
          </a:prstGeom>
          <a:solidFill>
            <a:srgbClr val="15130F"/>
          </a:solidFill>
          <a:ln/>
        </p:spPr>
      </p:sp>
      <p:pic>
        <p:nvPicPr>
          <p:cNvPr id="8" name="Image 1" descr="Мобильная версия montblanc.com: Каталог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3432" y="1124712"/>
            <a:ext cx="1481328" cy="3200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240280" y="4434840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Каталог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023360" y="1051560"/>
            <a:ext cx="1627632" cy="3346704"/>
          </a:xfrm>
          <a:prstGeom prst="roundRect">
            <a:avLst>
              <a:gd name="adj" fmla="val 7865"/>
            </a:avLst>
          </a:prstGeom>
          <a:solidFill>
            <a:srgbClr val="15130F"/>
          </a:solidFill>
          <a:ln/>
        </p:spPr>
      </p:sp>
      <p:pic>
        <p:nvPicPr>
          <p:cNvPr id="11" name="Image 2" descr="Мобильная версия montblanc.com: Товар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512" y="1124712"/>
            <a:ext cx="1481328" cy="32004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023360" y="4434840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Товар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943600" y="1051560"/>
            <a:ext cx="2743200" cy="3346704"/>
          </a:xfrm>
          <a:prstGeom prst="roundRect">
            <a:avLst>
              <a:gd name="adj" fmla="val 2667"/>
            </a:avLst>
          </a:prstGeom>
          <a:solidFill>
            <a:srgbClr val="F2F0EC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6126480" y="1143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видно на мобильной версии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6126480" y="173736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адаптивный сайт, а не отдельное приложение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Меню, поиск и корзина собраны в шапке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Сетка в два столбца, как у нас в каталоге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Карточка: размер, корзина, избранное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4681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montblanc.com (en-us), мобильный режим, скриншоты автора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 на сайте Montblanc: десктоп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29768" y="978408"/>
            <a:ext cx="2432304" cy="15407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CB"/>
            </a:solidFill>
            <a:prstDash val="solid"/>
          </a:ln>
        </p:spPr>
      </p:sp>
      <p:pic>
        <p:nvPicPr>
          <p:cNvPr id="5" name="Image 0" descr="Скриншот montblanc.com: 1. Выбор разме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2377440" cy="1485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5557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Выбор размера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035808" y="978408"/>
            <a:ext cx="2432304" cy="15407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CB"/>
            </a:solidFill>
            <a:prstDash val="solid"/>
          </a:ln>
        </p:spPr>
      </p:sp>
      <p:pic>
        <p:nvPicPr>
          <p:cNvPr id="8" name="Image 1" descr="Скриншот montblanc.com: 2. Add To Ca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005840"/>
            <a:ext cx="2377440" cy="1485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063240" y="25557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Add To Cart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29768" y="2807208"/>
            <a:ext cx="2432304" cy="15407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CB"/>
            </a:solidFill>
            <a:prstDash val="solid"/>
          </a:ln>
        </p:spPr>
      </p:sp>
      <p:pic>
        <p:nvPicPr>
          <p:cNvPr id="11" name="Image 2" descr="Скриншот montblanc.com: 3. Корзин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834640"/>
            <a:ext cx="2377440" cy="14859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43845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Корзина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3035808" y="2807208"/>
            <a:ext cx="2432304" cy="154076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CB"/>
            </a:solidFill>
            <a:prstDash val="solid"/>
          </a:ln>
        </p:spPr>
      </p:sp>
      <p:pic>
        <p:nvPicPr>
          <p:cNvPr id="14" name="Image 3" descr="Скриншот montblanc.com: 4. Оформление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240" y="2834640"/>
            <a:ext cx="2377440" cy="14859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063240" y="43845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Оформление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5760720" y="1005840"/>
            <a:ext cx="2926080" cy="3520440"/>
          </a:xfrm>
          <a:prstGeom prst="roundRect">
            <a:avLst>
              <a:gd name="adj" fmla="val 2500"/>
            </a:avLst>
          </a:prstGeom>
          <a:solidFill>
            <a:srgbClr val="F2F0EC"/>
          </a:solidFill>
          <a:ln/>
        </p:spPr>
      </p:sp>
      <p:sp>
        <p:nvSpPr>
          <p:cNvPr id="17" name="Text 11"/>
          <p:cNvSpPr txBox="1"/>
          <p:nvPr/>
        </p:nvSpPr>
        <p:spPr>
          <a:xfrm>
            <a:off x="5943600" y="10972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покупателя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5943600" y="1554480"/>
            <a:ext cx="2560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Выбрать размер в карточке товара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To Cart: всплывающее окно «Added to your bag»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Корзина: состав, подытог, Proceed To Order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Оформление в три шага: Personal details, Shipping, Payment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943600" y="3703320"/>
            <a:ext cx="25603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5989320" y="3703320"/>
            <a:ext cx="246888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Заказ не оформлялся: остановились на первом шаге, данные не вводились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57200" y="4681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montblanc.com (en-us), скриншоты автора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 на сайте Montblanc: телефон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453896" cy="2980944"/>
          </a:xfrm>
          <a:prstGeom prst="roundRect">
            <a:avLst>
              <a:gd name="adj" fmla="val 7547"/>
            </a:avLst>
          </a:prstGeom>
          <a:solidFill>
            <a:srgbClr val="15130F"/>
          </a:solidFill>
          <a:ln/>
        </p:spPr>
      </p:sp>
      <p:pic>
        <p:nvPicPr>
          <p:cNvPr id="5" name="Image 0" descr="Мобильная версия montblanc.com: 1. Разме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078992"/>
            <a:ext cx="1307592" cy="2834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690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Размер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057400" y="1005840"/>
            <a:ext cx="1453896" cy="2980944"/>
          </a:xfrm>
          <a:prstGeom prst="roundRect">
            <a:avLst>
              <a:gd name="adj" fmla="val 7547"/>
            </a:avLst>
          </a:prstGeom>
          <a:solidFill>
            <a:srgbClr val="15130F"/>
          </a:solidFill>
          <a:ln/>
        </p:spPr>
      </p:sp>
      <p:pic>
        <p:nvPicPr>
          <p:cNvPr id="8" name="Image 1" descr="Мобильная версия montblanc.com: 2. В корзину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0552" y="1078992"/>
            <a:ext cx="1307592" cy="28346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057400" y="40690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В корзину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3657600" y="1005840"/>
            <a:ext cx="1453896" cy="2980944"/>
          </a:xfrm>
          <a:prstGeom prst="roundRect">
            <a:avLst>
              <a:gd name="adj" fmla="val 7547"/>
            </a:avLst>
          </a:prstGeom>
          <a:solidFill>
            <a:srgbClr val="15130F"/>
          </a:solidFill>
          <a:ln/>
        </p:spPr>
      </p:sp>
      <p:pic>
        <p:nvPicPr>
          <p:cNvPr id="11" name="Image 2" descr="Мобильная версия montblanc.com: 3. Корзин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0752" y="1078992"/>
            <a:ext cx="1307592" cy="28346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657600" y="40690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Корзина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257800" y="1005840"/>
            <a:ext cx="1453896" cy="2980944"/>
          </a:xfrm>
          <a:prstGeom prst="roundRect">
            <a:avLst>
              <a:gd name="adj" fmla="val 7547"/>
            </a:avLst>
          </a:prstGeom>
          <a:solidFill>
            <a:srgbClr val="15130F"/>
          </a:solidFill>
          <a:ln/>
        </p:spPr>
      </p:sp>
      <p:pic>
        <p:nvPicPr>
          <p:cNvPr id="14" name="Image 3" descr="Мобильная версия montblanc.com: 4. Оформление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0952" y="1078992"/>
            <a:ext cx="1307592" cy="283464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257800" y="40690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Оформление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6903720" y="1005840"/>
            <a:ext cx="1783080" cy="3346704"/>
          </a:xfrm>
          <a:prstGeom prst="roundRect">
            <a:avLst>
              <a:gd name="adj" fmla="val 4103"/>
            </a:avLst>
          </a:prstGeom>
          <a:solidFill>
            <a:srgbClr val="F2F0EC"/>
          </a:solidFill>
          <a:ln/>
        </p:spPr>
      </p:sp>
      <p:sp>
        <p:nvSpPr>
          <p:cNvPr id="17" name="Text 11"/>
          <p:cNvSpPr txBox="1"/>
          <p:nvPr/>
        </p:nvSpPr>
        <p:spPr>
          <a:xfrm>
            <a:off x="7040880" y="1143000"/>
            <a:ext cx="1508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 же четыре шага, но в один столбец: кнопки на всю ширину, на шаге оформления итог закреплён внизу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montblanc.com (en-us), мобильный режим, скриншоты автора. Заказ не оформлялся.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Какую проблему решаем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15130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143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Montblanc нет собственного мобильного приложения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343400" y="1801368"/>
            <a:ext cx="457200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846320" y="1051560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B08D5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0" y="1143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Готовое приложение и коммерческое предложение: я выступаю заказчиком и предлагаю бренду готовый продукт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2F0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 к показу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4290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Каталог, избранное, корзина и покупка в одном аккаунте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46120" y="283464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2F0E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42900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Фирменный стиль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34290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Палитра, шрифты и логотип бренда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035040" y="283464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2F0E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1792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Любой бэкенд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34290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Architecture: Firebase можно заменить на сервер бренда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умеет приложение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9050">
            <a:solidFill>
              <a:srgbClr val="B08D57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640080" y="11155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работает под одним слоем авторизации: аккаунт Firebase + подтверждение email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2F0E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171907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Просмотр товаров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3172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Категории, поиск, карточка с фото, ценой и размерами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651760" y="160020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2F0E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88920" y="171907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Избранное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233172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Лайк в каталоге и на карточке, общий список избранного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60020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2F0E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171907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Корзина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233172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Размеры, количество, итог; хранится в аккаунте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675120" y="160020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15130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12280" y="171907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233172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Оформление заказа в демо-режиме, без реальной оплаты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9319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Дополнительно: профиль, смена пароля и email, уведомления, RU / EN, светлая и тёмная темы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Архитектура: Clean Architecture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15130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0515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2F0E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83080"/>
            <a:ext cx="1280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SwiftUI Views, компоненты, DesignSystem, навигация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48840" y="105156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3A33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194560" y="10515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148840" y="169164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2F0E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240280" y="1783080"/>
            <a:ext cx="1280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ViewModel, UI-модели, ViewMode, Router, валидаторы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840480" y="105156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B08D5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886200" y="10515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840480" y="169164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1E6D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931920" y="1783080"/>
            <a:ext cx="1280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Entities, UseCases, протоколы репозиториев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532120" y="105156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F2F0E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577840" y="10515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532120" y="169164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2F0E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23560" y="1783080"/>
            <a:ext cx="1280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Репозитории, DTO, Mapper, протоколы DataSource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223760" y="105156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F2F0E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269480" y="10515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223760" y="169164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2F0E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0" y="1783080"/>
            <a:ext cx="1280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Firebase, UserDefaults, URLCache, NWPathMonitor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938528" y="1325880"/>
            <a:ext cx="192024" cy="0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630168" y="1325880"/>
            <a:ext cx="192024" cy="0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H="1">
            <a:off x="5321808" y="1325880"/>
            <a:ext cx="192024" cy="0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H="1">
            <a:off x="7013448" y="1325880"/>
            <a:ext cx="192024" cy="0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57200" y="352044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08D57"/>
            </a:solidFill>
            <a:prstDash val="dash"/>
          </a:ln>
        </p:spPr>
      </p:sp>
      <p:sp>
        <p:nvSpPr>
          <p:cNvPr id="29" name="Text 27"/>
          <p:cNvSpPr txBox="1"/>
          <p:nvPr/>
        </p:nvSpPr>
        <p:spPr>
          <a:xfrm>
            <a:off x="502920" y="3520440"/>
            <a:ext cx="81381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· DI: AppDIContainer — единственное место, где протоколы связываются с реализациями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069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Зависимости направлены внутрь, к Domain. В Domain и Data нет импортов Firebase и SwiftUI.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проходит запрос: загрузка каталога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05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2F0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1280160"/>
            <a:ext cx="1737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CatalogView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304288" y="1645920"/>
            <a:ext cx="265176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2587752" y="1005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87752" y="128016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2F0E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633472" y="1280160"/>
            <a:ext cx="1737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CatalogViewModel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34840" y="1645920"/>
            <a:ext cx="265176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4718304" y="1005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18304" y="128016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B08D5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64024" y="1280160"/>
            <a:ext cx="1737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GetCatalogUseCase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65392" y="1645920"/>
            <a:ext cx="265176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6848856" y="1005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48856" y="128016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B08D5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94576" y="1280160"/>
            <a:ext cx="1737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CatalogRepository Protocol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67144" y="21031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реализует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63256" y="2029968"/>
            <a:ext cx="0" cy="512064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2587752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587752" y="256032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15130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633472" y="2560320"/>
            <a:ext cx="1737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Firestore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718304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18304" y="256032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2F0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64024" y="2560320"/>
            <a:ext cx="1737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FirestoreCatalog DataSourceImpl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848856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848856" y="256032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2F0E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94576" y="2560320"/>
            <a:ext cx="1737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CatalogRepository Impl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 flipH="1">
            <a:off x="6565392" y="2926080"/>
            <a:ext cx="265176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 flipH="1">
            <a:off x="4434840" y="2926080"/>
            <a:ext cx="265176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57200" y="256032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B08D5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2920" y="2560320"/>
            <a:ext cx="1737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сделке меняем только DataSource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32704" y="3328416"/>
            <a:ext cx="0" cy="201168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headEnd type="triangle"/>
          </a:ln>
        </p:spPr>
      </p:sp>
      <p:sp>
        <p:nvSpPr>
          <p:cNvPr id="35" name="Shape 33"/>
          <p:cNvSpPr/>
          <p:nvPr/>
        </p:nvSpPr>
        <p:spPr>
          <a:xfrm>
            <a:off x="5632704" y="3328416"/>
            <a:ext cx="0" cy="201168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4718304" y="3547872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B08D57"/>
            </a:solidFill>
            <a:prstDash val="dash"/>
          </a:ln>
        </p:spPr>
      </p:sp>
      <p:sp>
        <p:nvSpPr>
          <p:cNvPr id="37" name="Text 35"/>
          <p:cNvSpPr txBox="1"/>
          <p:nvPr/>
        </p:nvSpPr>
        <p:spPr>
          <a:xfrm>
            <a:off x="4764024" y="3547872"/>
            <a:ext cx="17373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RESTCatalogDataSourceImpl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 flipH="1">
            <a:off x="4434840" y="3794760"/>
            <a:ext cx="265176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dash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2587752" y="3547872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B08D57"/>
            </a:solidFill>
            <a:prstDash val="dash"/>
          </a:ln>
        </p:spPr>
      </p:sp>
      <p:sp>
        <p:nvSpPr>
          <p:cNvPr id="40" name="Text 38"/>
          <p:cNvSpPr txBox="1"/>
          <p:nvPr/>
        </p:nvSpPr>
        <p:spPr>
          <a:xfrm>
            <a:off x="2633472" y="3547872"/>
            <a:ext cx="173736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Бэкенд Montblanc (REST API)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848856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сделки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идёт обратно по цепочке преобразований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57200" y="438912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F2F0E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02920" y="4389120"/>
            <a:ext cx="109728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664208" y="4581144"/>
            <a:ext cx="146304" cy="0"/>
          </a:xfrm>
          <a:prstGeom prst="line">
            <a:avLst/>
          </a:prstGeom>
          <a:noFill/>
          <a:ln w="1587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828800" y="438912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F2F0EC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874520" y="4389120"/>
            <a:ext cx="109728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ProductDTO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35808" y="4581144"/>
            <a:ext cx="146304" cy="0"/>
          </a:xfrm>
          <a:prstGeom prst="line">
            <a:avLst/>
          </a:prstGeom>
          <a:noFill/>
          <a:ln w="1587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3200400" y="438912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F2F0E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246120" y="4389120"/>
            <a:ext cx="109728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ProductMapper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407408" y="4581144"/>
            <a:ext cx="146304" cy="0"/>
          </a:xfrm>
          <a:prstGeom prst="line">
            <a:avLst/>
          </a:prstGeom>
          <a:noFill/>
          <a:ln w="1587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4572000" y="438912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B08D57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617720" y="4389120"/>
            <a:ext cx="109728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5779008" y="4581144"/>
            <a:ext cx="146304" cy="0"/>
          </a:xfrm>
          <a:prstGeom prst="line">
            <a:avLst/>
          </a:prstGeom>
          <a:noFill/>
          <a:ln w="1587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5943600" y="438912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F2F0EC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989320" y="4389120"/>
            <a:ext cx="109728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UI-модель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7150608" y="4581144"/>
            <a:ext cx="146304" cy="0"/>
          </a:xfrm>
          <a:prstGeom prst="line">
            <a:avLst/>
          </a:prstGeom>
          <a:noFill/>
          <a:ln w="1587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7315200" y="438912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F2F0EC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7360920" y="4389120"/>
            <a:ext cx="109728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Dependency Injection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B08D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097280"/>
            <a:ext cx="25603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live()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· UserDefaults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F2F0E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2057400"/>
            <a:ext cx="25603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preview()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PreviewRepositories (моки)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154680" y="1481328"/>
            <a:ext cx="365760" cy="301752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3154680" y="2148840"/>
            <a:ext cx="365760" cy="292608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566160" y="1097280"/>
            <a:ext cx="2377440" cy="1737360"/>
          </a:xfrm>
          <a:prstGeom prst="roundRect">
            <a:avLst>
              <a:gd name="adj" fmla="val 4211"/>
            </a:avLst>
          </a:prstGeom>
          <a:solidFill>
            <a:srgbClr val="15130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11880" y="1097280"/>
            <a:ext cx="228600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AppDIContainer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init(repositories:)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composition root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89320" y="1965960"/>
            <a:ext cx="365760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400800" y="1097280"/>
            <a:ext cx="2286000" cy="1737360"/>
          </a:xfrm>
          <a:prstGeom prst="roundRect">
            <a:avLst>
              <a:gd name="adj" fmla="val 4211"/>
            </a:avLst>
          </a:prstGeom>
          <a:solidFill>
            <a:srgbClr val="F2F0E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1097280"/>
            <a:ext cx="219456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make…ViewModel()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UseCase(repository:)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ViewModel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108960"/>
            <a:ext cx="4297680" cy="1325880"/>
          </a:xfrm>
          <a:prstGeom prst="roundRect">
            <a:avLst>
              <a:gd name="adj" fmla="val 5517"/>
            </a:avLst>
          </a:prstGeom>
          <a:solidFill>
            <a:srgbClr val="15130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182112"/>
            <a:ext cx="40233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Repositories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auth: AuthRepositoryProtocol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catalog: CatalogRepositoryProtocol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cart: CartRepositoryProtocol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…  // всего 9 протоколов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3108960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Зависимости передаются через init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ViewModel видит только UseCase и протоколы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Превью и тесты подставляют моки без сети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DTO и Mapper: зачем они нужны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2F0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0972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 Firestore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508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38528" y="1435608"/>
            <a:ext cx="192024" cy="0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48840" y="10515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2F0E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194560" y="10972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ProductDTO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1508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30168" y="1435608"/>
            <a:ext cx="192024" cy="0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840480" y="10515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2F0E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886200" y="10972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ProductMapper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886200" y="1508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321808" y="1435608"/>
            <a:ext cx="192024" cy="0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532120" y="10515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B08D5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577840" y="10972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1508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013448" y="1435608"/>
            <a:ext cx="192024" cy="0"/>
          </a:xfrm>
          <a:prstGeom prst="line">
            <a:avLst/>
          </a:prstGeom>
          <a:noFill/>
          <a:ln w="19050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223760" y="10515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15130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269480" y="10972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UI-модель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1508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C8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103120"/>
            <a:ext cx="4114800" cy="2331720"/>
          </a:xfrm>
          <a:prstGeom prst="roundRect">
            <a:avLst>
              <a:gd name="adj" fmla="val 3137"/>
            </a:avLst>
          </a:prstGeom>
          <a:solidFill>
            <a:srgbClr val="F2F0E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2194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Зачем DTO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2606040"/>
            <a:ext cx="3749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DTO — формат конкретного бэкенда, а Product — язык нашего приложения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не зависит от схемы базы и SDK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Главная цель: заменить Firebase на реальный сервер бренда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846320" y="2103120"/>
            <a:ext cx="3840480" cy="640080"/>
          </a:xfrm>
          <a:prstGeom prst="roundRect">
            <a:avLst>
              <a:gd name="adj" fmla="val 11429"/>
            </a:avLst>
          </a:prstGeom>
          <a:solidFill>
            <a:srgbClr val="15130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92040" y="2103120"/>
            <a:ext cx="374904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CatalogRemoteDataSourceProtocol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846320" y="32461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B08D5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892040" y="3246120"/>
            <a:ext cx="17373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Firestore…Impl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сейчас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858000" y="32461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B08D57"/>
            </a:solidFill>
            <a:prstDash val="dash"/>
          </a:ln>
        </p:spPr>
      </p:sp>
      <p:sp>
        <p:nvSpPr>
          <p:cNvPr id="31" name="Text 29"/>
          <p:cNvSpPr txBox="1"/>
          <p:nvPr/>
        </p:nvSpPr>
        <p:spPr>
          <a:xfrm>
            <a:off x="6903720" y="3246120"/>
            <a:ext cx="17373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REST…Impl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сделки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 flipV="1">
            <a:off x="5760720" y="2788920"/>
            <a:ext cx="0" cy="41148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V="1">
            <a:off x="7772400" y="2788920"/>
            <a:ext cx="0" cy="41148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846320" y="41148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Меняется только реализация DataSource (и при необходимости DTO / Mapper)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API: интеграция с Firebase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2011680" cy="2743200"/>
          </a:xfrm>
          <a:prstGeom prst="roundRect">
            <a:avLst>
              <a:gd name="adj" fmla="val 3636"/>
            </a:avLst>
          </a:prstGeom>
          <a:solidFill>
            <a:srgbClr val="15130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Слой Data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554480"/>
            <a:ext cx="1737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Impl</a:t>
            </a:r>
            <a:endParaRPr lang="en-US" sz="11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FC8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отдаёт данные в Domain</a:t>
            </a:r>
            <a:endParaRPr lang="en-US" sz="11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DTO</a:t>
            </a:r>
            <a:endParaRPr lang="en-US" sz="11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FC8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формат ответа бэкенда</a:t>
            </a:r>
            <a:endParaRPr lang="en-US" sz="11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</a:t>
            </a:r>
            <a:endParaRPr lang="en-US" sz="11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FC8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переводит DTO в модель приложения</a:t>
            </a:r>
            <a:endParaRPr lang="en-US" sz="11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Протоколы DataSource</a:t>
            </a:r>
            <a:endParaRPr lang="en-US" sz="11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FC8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 к источнику: Firebase или REST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926080" y="1051560"/>
            <a:ext cx="5760720" cy="868680"/>
          </a:xfrm>
          <a:prstGeom prst="roundRect">
            <a:avLst>
              <a:gd name="adj" fmla="val 8421"/>
            </a:avLst>
          </a:prstGeom>
          <a:solidFill>
            <a:srgbClr val="F2F0E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108960" y="111556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Auth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108960" y="14173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FirebaseAuthDataSourceImpl: регистрация, вход, письмо подтверждения, смена пароля и email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14600" y="1481328"/>
            <a:ext cx="365760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926080" y="2011680"/>
            <a:ext cx="5760720" cy="868680"/>
          </a:xfrm>
          <a:prstGeom prst="roundRect">
            <a:avLst>
              <a:gd name="adj" fmla="val 8421"/>
            </a:avLst>
          </a:prstGeom>
          <a:solidFill>
            <a:srgbClr val="F2F0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108960" y="20756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Firestore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23774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Catalog, Cart, Notifications, Settings DataSourceImpl на async/await, FirestoreDecoder и ErrorMapper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514600" y="2441448"/>
            <a:ext cx="365760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926080" y="2971800"/>
            <a:ext cx="5760720" cy="868680"/>
          </a:xfrm>
          <a:prstGeom prst="roundRect">
            <a:avLst>
              <a:gd name="adj" fmla="val 8421"/>
            </a:avLst>
          </a:prstGeom>
          <a:solidFill>
            <a:srgbClr val="F2F0E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108960" y="30358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Hosting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108960" y="33375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Фото товаров по HTTPS; повторы загрузки и кэш картинок — из settings/store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514600" y="3401568"/>
            <a:ext cx="365760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57200" y="402336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B08D5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02920" y="4023360"/>
            <a:ext cx="81381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входе каталог, корзина и настройки загружаются параллельно (async let в LoadStorefrontUseCase)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Firebase: данные и безопасность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F2F0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Firestore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15130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1600200"/>
            <a:ext cx="19202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categories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788920" y="1600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категории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167128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15130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2167128"/>
            <a:ext cx="19202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21671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товар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734056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15130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" y="2734056"/>
            <a:ext cx="19202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notificationList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788920" y="273405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уведомления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300984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15130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300984"/>
            <a:ext cx="19202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settings/store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788920" y="330098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лимиты и кэш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3867912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15130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5800" y="3867912"/>
            <a:ext cx="19202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users/{uid}/cart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788920" y="386791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корзина аккаунта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754880" y="1051560"/>
            <a:ext cx="3931920" cy="1965960"/>
          </a:xfrm>
          <a:prstGeom prst="roundRect">
            <a:avLst>
              <a:gd name="adj" fmla="val 3721"/>
            </a:avLst>
          </a:prstGeom>
          <a:solidFill>
            <a:srgbClr val="15130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37760" y="1124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firestore.rules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937760" y="1463040"/>
            <a:ext cx="3611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справочники: read только при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email_verified, write: false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users/{uid}/cart: только владелец,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поля проверяются,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quantity ≤ лимит из settings/store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54880" y="3200400"/>
            <a:ext cx="3931920" cy="1280160"/>
          </a:xfrm>
          <a:prstGeom prst="roundRect">
            <a:avLst>
              <a:gd name="adj" fmla="val 5714"/>
            </a:avLst>
          </a:prstGeom>
          <a:solidFill>
            <a:srgbClr val="B08D5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37760" y="32644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Администрирование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937760" y="361188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Скрипт firebase/seed (Admin SDK) заполняет каталог, уведомления и настройки. Клиент пишет только свою корзину.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данные выглядят в Firestore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846320" cy="3520440"/>
          </a:xfrm>
          <a:prstGeom prst="roundRect">
            <a:avLst>
              <a:gd name="adj" fmla="val 2078"/>
            </a:avLst>
          </a:prstGeom>
          <a:solidFill>
            <a:srgbClr val="15130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0972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products  ›  glasses-navigator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7160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документа = id товара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66420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166420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16642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"glasses-navigator"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94767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categoryId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194767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19476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"glasses"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2311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103120" y="2231136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743200" y="22311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"Авиаторы Navigator"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25146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shortDescription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103120" y="25146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743200" y="2514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"Графитовые линзы, двойной мост"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79806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103120" y="2798064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2743200" y="27980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"Прямоугольные авиаторы…"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0815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103120" y="308152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743200" y="308152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32900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36499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336499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743200" y="33649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364845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imageURL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2103120" y="3648456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2743200" y="364845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"https://test-6d334.web.app/…"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93192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sizes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2103120" y="393192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array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2743200" y="39319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["S", "M", "L"]  (у часов)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42245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Поле: тип и значение, как в консоли Firebase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5532120" y="1005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добавить или изменить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5532120" y="1371600"/>
            <a:ext cx="31546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Console → Firestore Database → Data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Выбрать коллекцию и документ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Карандаш у поля — изменить, Add field — добавить поле, Add document — новый документ (свой ID и поля)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Удаление — через меню документа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532120" y="3200400"/>
            <a:ext cx="3154680" cy="640080"/>
          </a:xfrm>
          <a:prstGeom prst="roundRect">
            <a:avLst>
              <a:gd name="adj" fmla="val 11429"/>
            </a:avLst>
          </a:prstGeom>
          <a:solidFill>
            <a:srgbClr val="B08D5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577840" y="3200400"/>
            <a:ext cx="306324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 подхватит правки при следующей загрузке или обновлении свайпом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532120" y="3931920"/>
            <a:ext cx="3154680" cy="594360"/>
          </a:xfrm>
          <a:prstGeom prst="roundRect">
            <a:avLst>
              <a:gd name="adj" fmla="val 12308"/>
            </a:avLst>
          </a:prstGeom>
          <a:solidFill>
            <a:srgbClr val="F2F0E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577840" y="3931920"/>
            <a:ext cx="306324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Каталог перезаписывает скрипт seed: постоянные правки вносите в catalog.json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UserDefaults: локальные данные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2F0E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051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Репозиторий (Data)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32588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FavoritesRepositoryImpl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10512"/>
            <a:ext cx="22494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Решает, что и когда сохранять. Реализует контракт из Domain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0058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B08D5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051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 хранилища (Data)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32588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FavoritesLocalDataSource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47288" y="1810512"/>
            <a:ext cx="22494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два действия: прочитать и сохранить id избранных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0058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2F0E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27648" y="1051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Реализация (Infrastructure)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327648" y="132588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UserDefaultsFavorites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DataSourceImpl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327648" y="1810512"/>
            <a:ext cx="22494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Пишет и читает данные в UserDefaults устройства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44368" y="1691640"/>
            <a:ext cx="365760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5833872" y="1691640"/>
            <a:ext cx="365760" cy="0"/>
          </a:xfrm>
          <a:prstGeom prst="line">
            <a:avLst/>
          </a:prstGeom>
          <a:noFill/>
          <a:ln w="22225">
            <a:solidFill>
              <a:srgbClr val="B08D57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457200" y="245059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 — реализация (implementation). В имени класса указана технология хранения: для Firestore был бы FirestoreFavoritesDataSourceImpl.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9077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 в UserDefaults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926080" y="29077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Значение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это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315468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5130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3154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favorites.&lt;uid&gt;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926080" y="3154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["p1", "p7"]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0" y="3154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Избранные товары пользователя. uid — id аккаунта Firebase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68503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5130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" y="368503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D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notifications.seenIds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2926080" y="36850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2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["n1", "n2"]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368503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Прочитанные уведомления (общий список на устройстве)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2245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Избранное привязано к UID: аккаунты на одном устройстве не смешиваются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Работает без сети, но не синхронизируется между устройствами (потом стоит перенести в Firestore)</a:t>
            </a:r>
            <a:endParaRPr lang="en-US" sz="11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1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Корзина в Firestore (users/{uid}/cart), а не в UserDefaults — так сделано изначально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Результаты и выводы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15130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C8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импортов Firebase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FC8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Domain и Data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60320" y="105156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2F0E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репозиториев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протоколами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05156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2F0E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iOS 17+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минимальная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версия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766560" y="105156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F2F0E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языка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 / EN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51760"/>
            <a:ext cx="8229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Готово рабочее демо: каталог, избранное, корзина и покупка в демо-режиме под аккаунтом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Architecture отделила бизнес-логику от Firebase: смена бэкенда затрагивает только Infrastructure и Data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Корзина привязана к аккаунту и хранится в облаке, а доступ защищён правилами Firestore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Цена гибкости: больше слоёв и кода (протоколы, DTO, Mapper)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Планы развития после сделки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2F0EC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371600"/>
            <a:ext cx="411480" cy="411480"/>
          </a:xfrm>
          <a:prstGeom prst="ellipse">
            <a:avLst/>
          </a:prstGeom>
          <a:solidFill>
            <a:srgbClr val="15130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09728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Реальный сервер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1097280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Собственный сервер или существующий бэкенд Montblanc: новая реализация DataSource вместо Firebase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2F0E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2468880"/>
            <a:ext cx="411480" cy="411480"/>
          </a:xfrm>
          <a:prstGeom prst="ellipse">
            <a:avLst/>
          </a:prstGeom>
          <a:solidFill>
            <a:srgbClr val="15130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2468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19456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Оплата и заказы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2194560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Настоящее оформление заказа и оплата вместо демо-режима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918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2F0E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5130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566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29184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3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Аналитика в Firebase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0" y="3291840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Просмотры товаров, лайки и добавления в корзину для бизнес-аналитики бренда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5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544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 за внимание!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08D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 рад ответить на вопросы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ClothesShop  ·  Alex Rimain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ClothesShop — дипломная работа</dc:title>
  <dc:subject>PptxGenJS Presentation</dc:subject>
  <dc:creator>PptxGenJS</dc:creator>
  <cp:lastModifiedBy>PptxGenJS</cp:lastModifiedBy>
  <cp:revision>1</cp:revision>
  <dcterms:created xsi:type="dcterms:W3CDTF">2026-10-08T18:24:33Z</dcterms:created>
  <dcterms:modified xsi:type="dcterms:W3CDTF">2026-10-08T18:24:33Z</dcterms:modified>
</cp:coreProperties>
</file>